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58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49261-088F-45FB-8BAA-22036BAC8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A15A3D-903C-452B-B080-E782B77B6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417735-792F-41EC-B160-4348773A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554165-49F5-45E8-9C3B-2E1DAB85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2323-86E0-4EAF-8C3D-2C3880AC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23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B592B-38B1-415F-A63E-8DB4D632C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0341E8-B94C-4173-83D1-DDD44753D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898486-3F71-40AB-94C5-577B3D256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B35ABE-2114-4B90-8F96-207DBE9F4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1A1CB-2F1A-4F0C-91F2-5406E10A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1772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B9D72-6D0B-4A2E-BB44-260D4D88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347505-86B9-440B-9B65-18A4D811A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0B6AD0-5D27-4577-B29B-96257F32B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855A8E-3677-4937-91F2-EC0CBAB2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13A15F-D879-47E0-A9FA-83A3C64F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7922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7919E-E695-47EA-BEA1-C4AA1BCD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C1063A-C329-4B27-B4D1-D93DDBABA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2A7C19-D440-4BCF-BE18-27C7FDB1E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A5AB0D-E882-4AAE-8303-97441714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DECD2D-D24B-496B-BE8C-0E25B11F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BCB703-6C46-405B-B744-17CA9B26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365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931F5C-F030-4F98-AB37-C87CDFD0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6E738B-CD29-459B-957D-85786C2FC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27C3AD-53D0-46AD-BD3E-0A036B8C7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A19C78-6AA5-4462-A674-F990149C9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47B3C06-A65F-48CF-BC71-01F9EAC1C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ED724A-0E01-46C3-A6CD-20A40DE57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D15F407-F19B-4CBD-A644-53F927D6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F6E248B-BED8-48ED-B8D0-3D373849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7398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D7415-A8C3-4E86-A1BE-70AE9E3D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0444B09-E9F6-4CD4-B31E-AEB0DC01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AA3130-012C-4157-B93D-6B654DAB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368DCE-84BC-420D-B813-456AD1E3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8942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5C53397-7E52-4C09-A895-BF87D5432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81A298-65B9-4591-8A6F-F60E7367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E2B207-ADE9-483E-B027-A6C39858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256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93235A-CF91-4C25-BDA6-54EF538B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C0146E-7B4B-4EF5-9DB8-DBF9D69EF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1953B81-099B-4AF6-ABC6-788B80F31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E5F06B-4326-45BD-8AB6-3DE7F8E1D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681BF2-9AAF-414D-BB13-EE064671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4F90E6-00F5-42F2-BE3B-5A70B8A6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622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8C58A-4D07-4C8B-8BE9-DB867FF0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B14262E-99C4-4F0A-A75A-B271BB634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7E08B8-F4EC-48EE-91E9-0C869646A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C29EAE-2D0F-4FDD-9C58-62759152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F80F25-AD1A-445D-8655-BBED44FDB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3F871A-29C7-4328-81D6-EF113613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054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4F184-5C2A-461F-B7EB-68A06BF30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044851-136E-4A91-B304-95C29B91A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1FB672-B5E5-4A5D-B8D6-0D0787F1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49673B-CB08-4604-84F6-E6188C34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89CC31-E84A-4AE5-8529-D73328280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939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DA5060-C2F5-448F-8C56-8BE82D4AB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5F97A8-C3F7-4A33-AF59-82416C545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25E472-31D6-426F-9828-B23D512D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5ECF6F-6141-453C-A6C0-C3F3A200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0CD99D-6E20-4DA2-8861-6DA63B3F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7421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CF16C3C-3B51-4E20-A9B6-7A645A403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91A6C0-990E-46E2-80D9-4F6DC14B2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136068-277C-402E-BFA7-1A31D071B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FB2A9-B2D1-4D24-90E6-ED3C2A8E1047}" type="datetimeFigureOut">
              <a:rPr lang="es-CO" smtClean="0"/>
              <a:t>12/04/2026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F5073D-4581-469C-A9D6-5092A4B34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1BF420-5B69-4CA5-89EA-FE9EF904D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2330C-AB0A-4326-BDC7-BD51B9BBD61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276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57996D-A9A6-426B-BFF5-A586172E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Box"/>
          <p:cNvSpPr>
            <a:spLocks noGrp="1"/>
          </p:cNvSpPr>
          <p:nvPr/>
        </p:nvSpPr>
        <p:spPr>
          <a:xfrm>
            <a:off x="6209818" y="1822813"/>
            <a:ext cx="5800000" cy="1707465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ctr"/>
            <a:r>
              <a:rPr lang="es-MX" sz="24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Proyecto Integrador – Comunicación &amp; Análisis de Datos</a:t>
            </a:r>
            <a:endParaRPr lang="es-CO" sz="24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l"/>
            <a:endParaRPr lang="es-CO" sz="2800" b="1" dirty="0">
              <a:latin typeface="Calibri"/>
            </a:endParaRPr>
          </a:p>
          <a:p>
            <a:pPr algn="l"/>
            <a:r>
              <a:rPr lang="es-CO" sz="2800" b="1" dirty="0">
                <a:latin typeface="Calibri"/>
              </a:rPr>
              <a:t>Red Corporativa MetalParts</a:t>
            </a:r>
          </a:p>
        </p:txBody>
      </p:sp>
      <p:sp>
        <p:nvSpPr>
          <p:cNvPr id="11" name="SubtitleBox"/>
          <p:cNvSpPr>
            <a:spLocks noGrp="1"/>
          </p:cNvSpPr>
          <p:nvPr/>
        </p:nvSpPr>
        <p:spPr>
          <a:xfrm>
            <a:off x="6776977" y="4106386"/>
            <a:ext cx="5800000" cy="206292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es-CO" sz="1600" b="1" dirty="0">
                <a:latin typeface="Calibri"/>
              </a:rPr>
              <a:t>Fase 1 – Diseño e Infraestructura de Red</a:t>
            </a:r>
          </a:p>
          <a:p>
            <a:pPr algn="l"/>
            <a:endParaRPr lang="es-CO" sz="1600" b="0" dirty="0">
              <a:latin typeface="Calibri"/>
            </a:endParaRPr>
          </a:p>
          <a:p>
            <a:pPr algn="l"/>
            <a:r>
              <a:rPr lang="es-CO" sz="1600" b="0" dirty="0">
                <a:latin typeface="Calibri"/>
              </a:rPr>
              <a:t>Jeison Leonardo Cárdenas Arenas</a:t>
            </a:r>
          </a:p>
          <a:p>
            <a:pPr algn="l"/>
            <a:r>
              <a:rPr lang="es-CO" sz="1600" b="0" dirty="0">
                <a:latin typeface="Calibri"/>
              </a:rPr>
              <a:t>Fanny Marcela Fuentes Silva</a:t>
            </a:r>
          </a:p>
          <a:p>
            <a:pPr algn="l"/>
            <a:r>
              <a:rPr lang="es-CO" sz="1600" b="0" dirty="0">
                <a:latin typeface="Calibri"/>
              </a:rPr>
              <a:t>Oscar Javier Garcés Hernández</a:t>
            </a:r>
          </a:p>
          <a:p>
            <a:pPr algn="l"/>
            <a:endParaRPr lang="es-CO" sz="1600" b="0" dirty="0">
              <a:latin typeface="Calibri"/>
            </a:endParaRPr>
          </a:p>
          <a:p>
            <a:pPr algn="l"/>
            <a:r>
              <a:rPr lang="es-CO" sz="2000" b="1" dirty="0">
                <a:latin typeface="Calibri"/>
              </a:rPr>
              <a:t>Ingeniería de Sistemas </a:t>
            </a:r>
          </a:p>
        </p:txBody>
      </p:sp>
    </p:spTree>
    <p:extLst>
      <p:ext uri="{BB962C8B-B14F-4D97-AF65-F5344CB8AC3E}">
        <p14:creationId xmlns:p14="http://schemas.microsoft.com/office/powerpoint/2010/main" val="1234146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1" y="0"/>
            <a:ext cx="12192000" cy="6858000"/>
          </a:xfrm>
          <a:prstGeom prst="rect">
            <a:avLst/>
          </a:prstGeom>
        </p:spPr>
      </p:pic>
      <p:sp>
        <p:nvSpPr>
          <p:cNvPr id="10" name="TitleBar"/>
          <p:cNvSpPr>
            <a:spLocks noGrp="1"/>
          </p:cNvSpPr>
          <p:nvPr/>
        </p:nvSpPr>
        <p:spPr>
          <a:xfrm>
            <a:off x="457200" y="304800"/>
            <a:ext cx="11277600" cy="685800"/>
          </a:xfrm>
          <a:prstGeom prst="rect">
            <a:avLst/>
          </a:prstGeom>
          <a:solidFill>
            <a:srgbClr val="1B3A6B"/>
          </a:solidFill>
        </p:spPr>
        <p:txBody>
          <a:bodyPr wrap="square" lIns="182880" tIns="91440" rIns="182880" bIns="91440"/>
          <a:lstStyle/>
          <a:p>
            <a:pPr algn="l"/>
            <a:r>
              <a:rPr lang="es-CO" sz="2400" b="1" dirty="0">
                <a:solidFill>
                  <a:srgbClr val="FFFFFF"/>
                </a:solidFill>
                <a:latin typeface="Calibri"/>
              </a:rPr>
              <a:t>1. Descripción del Escenario</a:t>
            </a:r>
          </a:p>
        </p:txBody>
      </p:sp>
      <p:sp>
        <p:nvSpPr>
          <p:cNvPr id="11" name="ColoredBox11"/>
          <p:cNvSpPr>
            <a:spLocks noGrp="1"/>
          </p:cNvSpPr>
          <p:nvPr/>
        </p:nvSpPr>
        <p:spPr>
          <a:xfrm>
            <a:off x="457200" y="1143000"/>
            <a:ext cx="3600000" cy="5410800"/>
          </a:xfrm>
          <a:prstGeom prst="rect">
            <a:avLst/>
          </a:prstGeom>
          <a:solidFill>
            <a:srgbClr val="1B3A6B"/>
          </a:solidFill>
        </p:spPr>
        <p:txBody>
          <a:bodyPr wrap="square" lIns="182880" tIns="91440" rIns="182880" bIns="91440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800" b="1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es-CO" sz="2800" b="1" dirty="0">
                <a:solidFill>
                  <a:srgbClr val="FFFFFF"/>
                </a:solidFill>
                <a:latin typeface="Calibri"/>
              </a:rPr>
              <a:t>Empresa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000" b="0" dirty="0">
              <a:solidFill>
                <a:srgbClr val="FFFFFF"/>
              </a:solidFill>
              <a:latin typeface="Calibri"/>
            </a:endParaRPr>
          </a:p>
          <a:p>
            <a:pPr algn="just">
              <a:spcBef>
                <a:spcPts val="200"/>
              </a:spcBef>
            </a:pPr>
            <a:r>
              <a:rPr lang="es-CO" sz="1600" b="0" dirty="0" err="1">
                <a:solidFill>
                  <a:srgbClr val="FFFFFF"/>
                </a:solidFill>
                <a:latin typeface="Calibri"/>
              </a:rPr>
              <a:t>MetalParts</a:t>
            </a:r>
            <a:r>
              <a:rPr lang="es-CO" sz="1600" b="0" dirty="0">
                <a:solidFill>
                  <a:srgbClr val="FFFFFF"/>
                </a:solidFill>
                <a:latin typeface="Calibri"/>
              </a:rPr>
              <a:t> S.A. es una empresa manufacturera del sector metálmecánico con operaciones en tres ciudades de Colombia.</a:t>
            </a:r>
          </a:p>
          <a:p>
            <a:pPr algn="just">
              <a:lnSpc>
                <a:spcPts val="1500"/>
              </a:lnSpc>
              <a:spcBef>
                <a:spcPts val="200"/>
              </a:spcBef>
            </a:pPr>
            <a:endParaRPr lang="es-CO" sz="2000" b="0" dirty="0">
              <a:solidFill>
                <a:srgbClr val="FFFFFF"/>
              </a:solidFill>
              <a:latin typeface="Calibri"/>
            </a:endParaRPr>
          </a:p>
          <a:p>
            <a:pPr algn="just">
              <a:lnSpc>
                <a:spcPts val="1500"/>
              </a:lnSpc>
              <a:spcBef>
                <a:spcPts val="200"/>
              </a:spcBef>
            </a:pPr>
            <a:r>
              <a:rPr lang="es-CO" sz="2800" b="1" dirty="0">
                <a:solidFill>
                  <a:srgbClr val="FFFFFF"/>
                </a:solidFill>
                <a:latin typeface="Calibri"/>
              </a:rPr>
              <a:t>Sedes</a:t>
            </a:r>
          </a:p>
          <a:p>
            <a:pPr algn="just">
              <a:lnSpc>
                <a:spcPts val="1500"/>
              </a:lnSpc>
              <a:spcBef>
                <a:spcPts val="200"/>
              </a:spcBef>
            </a:pPr>
            <a:endParaRPr lang="es-CO" sz="2000" b="0" dirty="0">
              <a:solidFill>
                <a:srgbClr val="FFFFFF"/>
              </a:solidFill>
              <a:latin typeface="Calibri"/>
            </a:endParaRPr>
          </a:p>
          <a:p>
            <a:pPr algn="just">
              <a:spcBef>
                <a:spcPts val="200"/>
              </a:spcBef>
            </a:pPr>
            <a:r>
              <a:rPr lang="es-CO" sz="1600" b="0" dirty="0">
                <a:solidFill>
                  <a:srgbClr val="FFFFFF"/>
                </a:solidFill>
                <a:latin typeface="Calibri"/>
              </a:rPr>
              <a:t>Sede Central: Medellín (HQ)</a:t>
            </a:r>
          </a:p>
          <a:p>
            <a:pPr algn="just">
              <a:spcBef>
                <a:spcPts val="200"/>
              </a:spcBef>
            </a:pPr>
            <a:r>
              <a:rPr lang="es-CO" sz="1600" b="0" dirty="0">
                <a:solidFill>
                  <a:srgbClr val="FFFFFF"/>
                </a:solidFill>
                <a:latin typeface="Calibri"/>
              </a:rPr>
              <a:t>Sede Bogotá (sucursal norte)</a:t>
            </a:r>
          </a:p>
          <a:p>
            <a:pPr algn="just">
              <a:spcBef>
                <a:spcPts val="200"/>
              </a:spcBef>
            </a:pPr>
            <a:r>
              <a:rPr lang="es-CO" sz="1600" b="0" dirty="0">
                <a:solidFill>
                  <a:srgbClr val="FFFFFF"/>
                </a:solidFill>
                <a:latin typeface="Calibri"/>
              </a:rPr>
              <a:t>Sede Barranquilla (sucursal costa)</a:t>
            </a:r>
          </a:p>
          <a:p>
            <a:pPr algn="just">
              <a:lnSpc>
                <a:spcPts val="1500"/>
              </a:lnSpc>
              <a:spcBef>
                <a:spcPts val="200"/>
              </a:spcBef>
            </a:pPr>
            <a:endParaRPr lang="es-CO" sz="2000" b="0" dirty="0">
              <a:solidFill>
                <a:srgbClr val="FFFFFF"/>
              </a:solidFill>
              <a:latin typeface="Calibri"/>
            </a:endParaRPr>
          </a:p>
          <a:p>
            <a:pPr algn="just">
              <a:lnSpc>
                <a:spcPts val="1500"/>
              </a:lnSpc>
              <a:spcBef>
                <a:spcPts val="200"/>
              </a:spcBef>
            </a:pPr>
            <a:r>
              <a:rPr lang="es-CO" sz="2800" b="1" dirty="0">
                <a:solidFill>
                  <a:srgbClr val="FFFFFF"/>
                </a:solidFill>
                <a:latin typeface="Calibri"/>
              </a:rPr>
              <a:t>Conectividad WAN</a:t>
            </a:r>
          </a:p>
          <a:p>
            <a:pPr algn="just">
              <a:lnSpc>
                <a:spcPts val="1500"/>
              </a:lnSpc>
              <a:spcBef>
                <a:spcPts val="200"/>
              </a:spcBef>
            </a:pPr>
            <a:endParaRPr lang="es-CO" sz="2000" b="0" dirty="0">
              <a:solidFill>
                <a:srgbClr val="FFFFFF"/>
              </a:solidFill>
              <a:latin typeface="Calibri"/>
            </a:endParaRPr>
          </a:p>
          <a:p>
            <a:pPr algn="just">
              <a:spcBef>
                <a:spcPts val="200"/>
              </a:spcBef>
            </a:pPr>
            <a:r>
              <a:rPr lang="es-CO" sz="1600" b="0" dirty="0">
                <a:solidFill>
                  <a:srgbClr val="FFFFFF"/>
                </a:solidFill>
                <a:latin typeface="Calibri"/>
              </a:rPr>
              <a:t>Red MPLS sobre fibra óptica como carrier WAN principal.</a:t>
            </a:r>
          </a:p>
          <a:p>
            <a:pPr algn="just">
              <a:spcBef>
                <a:spcPts val="200"/>
              </a:spcBef>
            </a:pPr>
            <a:r>
              <a:rPr lang="es-CO" sz="1600" b="0" dirty="0">
                <a:solidFill>
                  <a:srgbClr val="FFFFFF"/>
                </a:solidFill>
                <a:latin typeface="Calibri"/>
              </a:rPr>
              <a:t>Enlace Medellín – Bogotá: Fibra dedicada.</a:t>
            </a:r>
          </a:p>
          <a:p>
            <a:pPr algn="just">
              <a:spcBef>
                <a:spcPts val="200"/>
              </a:spcBef>
            </a:pPr>
            <a:r>
              <a:rPr lang="es-CO" sz="1600" b="0" dirty="0">
                <a:solidFill>
                  <a:srgbClr val="FFFFFF"/>
                </a:solidFill>
                <a:latin typeface="Calibri"/>
              </a:rPr>
              <a:t>Enlace Medellín – Barranquilla: Fibra dedicada.</a:t>
            </a:r>
          </a:p>
        </p:txBody>
      </p:sp>
      <p:sp>
        <p:nvSpPr>
          <p:cNvPr id="12" name="ColoredBox12"/>
          <p:cNvSpPr>
            <a:spLocks noGrp="1"/>
          </p:cNvSpPr>
          <p:nvPr/>
        </p:nvSpPr>
        <p:spPr>
          <a:xfrm>
            <a:off x="4267200" y="1143000"/>
            <a:ext cx="7467600" cy="2600000"/>
          </a:xfrm>
          <a:prstGeom prst="rect">
            <a:avLst/>
          </a:prstGeom>
          <a:solidFill>
            <a:srgbClr val="C8102E"/>
          </a:solidFill>
        </p:spPr>
        <p:txBody>
          <a:bodyPr wrap="square" lIns="182880" tIns="91440" rIns="182880" bIns="91440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3200" b="1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es-CO" sz="3200" b="1" dirty="0">
                <a:solidFill>
                  <a:srgbClr val="FFFFFF"/>
                </a:solidFill>
                <a:latin typeface="Calibri"/>
              </a:rPr>
              <a:t>Infraestructura Sede Central (Medellín)</a:t>
            </a:r>
          </a:p>
          <a:p>
            <a:pPr algn="l">
              <a:spcBef>
                <a:spcPts val="200"/>
              </a:spcBef>
            </a:pPr>
            <a:endParaRPr lang="es-CO" sz="2400" b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lang="es-CO" sz="2400" b="0" dirty="0" err="1">
                <a:solidFill>
                  <a:srgbClr val="FFFFFF"/>
                </a:solidFill>
                <a:latin typeface="Calibri"/>
              </a:rPr>
              <a:t>Router</a:t>
            </a:r>
            <a:r>
              <a:rPr lang="es-CO" sz="2400" b="0" dirty="0">
                <a:solidFill>
                  <a:srgbClr val="FFFFFF"/>
                </a:solidFill>
                <a:latin typeface="Calibri"/>
              </a:rPr>
              <a:t> Core (borde WAN) + Firewall UTM con IPS/NAT</a:t>
            </a:r>
          </a:p>
          <a:p>
            <a:pPr algn="l">
              <a:spcBef>
                <a:spcPts val="200"/>
              </a:spcBef>
            </a:pPr>
            <a:r>
              <a:rPr lang="es-CO" sz="2400" b="0" dirty="0">
                <a:solidFill>
                  <a:srgbClr val="FFFFFF"/>
                </a:solidFill>
                <a:latin typeface="Calibri"/>
              </a:rPr>
              <a:t>Switch Core L3 con Inter-VLAN 10G (fibra OM3)</a:t>
            </a:r>
          </a:p>
          <a:p>
            <a:pPr algn="l">
              <a:spcBef>
                <a:spcPts val="200"/>
              </a:spcBef>
            </a:pPr>
            <a:r>
              <a:rPr lang="es-CO" sz="2400" b="0" dirty="0">
                <a:solidFill>
                  <a:srgbClr val="FFFFFF"/>
                </a:solidFill>
                <a:latin typeface="Calibri"/>
              </a:rPr>
              <a:t>5 VLANs: Producción, Administ., Ingeniería, Bodega, DMZ</a:t>
            </a:r>
          </a:p>
          <a:p>
            <a:pPr algn="l">
              <a:spcBef>
                <a:spcPts val="200"/>
              </a:spcBef>
            </a:pPr>
            <a:r>
              <a:rPr lang="es-CO" sz="2400" b="0" dirty="0">
                <a:solidFill>
                  <a:srgbClr val="FFFFFF"/>
                </a:solidFill>
                <a:latin typeface="Calibri"/>
              </a:rPr>
              <a:t>Servidores: DNS, DHCP, AD, ERP (HTTPS), FTP, NTP</a:t>
            </a:r>
          </a:p>
        </p:txBody>
      </p:sp>
      <p:sp>
        <p:nvSpPr>
          <p:cNvPr id="13" name="ColoredBox13"/>
          <p:cNvSpPr>
            <a:spLocks noGrp="1"/>
          </p:cNvSpPr>
          <p:nvPr/>
        </p:nvSpPr>
        <p:spPr>
          <a:xfrm>
            <a:off x="4267200" y="3895200"/>
            <a:ext cx="3600000" cy="2658600"/>
          </a:xfrm>
          <a:prstGeom prst="rect">
            <a:avLst/>
          </a:prstGeom>
          <a:solidFill>
            <a:srgbClr val="F5A623"/>
          </a:solidFill>
        </p:spPr>
        <p:txBody>
          <a:bodyPr wrap="square" lIns="182880" tIns="91440" rIns="182880" bIns="91440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800" b="1" dirty="0">
              <a:solidFill>
                <a:srgbClr val="1B3A6B"/>
              </a:solidFill>
              <a:latin typeface="Calibri"/>
            </a:endParaRP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es-CO" sz="2800" b="1" dirty="0">
                <a:solidFill>
                  <a:srgbClr val="1B3A6B"/>
                </a:solidFill>
                <a:latin typeface="Calibri"/>
              </a:rPr>
              <a:t>Sede Bogotá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000" b="0" dirty="0">
              <a:solidFill>
                <a:srgbClr val="1B3A6B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lang="es-CO" sz="2000" b="0" dirty="0" err="1">
                <a:solidFill>
                  <a:srgbClr val="1B3A6B"/>
                </a:solidFill>
                <a:latin typeface="Calibri"/>
              </a:rPr>
              <a:t>Router</a:t>
            </a:r>
            <a:r>
              <a:rPr lang="es-CO" sz="2000" b="0" dirty="0">
                <a:solidFill>
                  <a:srgbClr val="1B3A6B"/>
                </a:solidFill>
                <a:latin typeface="Calibri"/>
              </a:rPr>
              <a:t> con VPN IPSec, Switch L2 + AP WiFi</a:t>
            </a:r>
          </a:p>
          <a:p>
            <a:pPr algn="l">
              <a:spcBef>
                <a:spcPts val="200"/>
              </a:spcBef>
            </a:pPr>
            <a:r>
              <a:rPr lang="es-CO" sz="2000" b="0" dirty="0">
                <a:solidFill>
                  <a:srgbClr val="1B3A6B"/>
                </a:solidFill>
                <a:latin typeface="Calibri"/>
              </a:rPr>
              <a:t>VLAN 10 Producción: 25 hosts (maquinaria)</a:t>
            </a:r>
          </a:p>
          <a:p>
            <a:pPr algn="l">
              <a:spcBef>
                <a:spcPts val="200"/>
              </a:spcBef>
            </a:pPr>
            <a:r>
              <a:rPr lang="es-CO" sz="2000" b="0" dirty="0">
                <a:solidFill>
                  <a:srgbClr val="1B3A6B"/>
                </a:solidFill>
                <a:latin typeface="Calibri"/>
              </a:rPr>
              <a:t>VLAN 20 Ventas: 40 hosts (oficinas)</a:t>
            </a:r>
          </a:p>
        </p:txBody>
      </p:sp>
      <p:sp>
        <p:nvSpPr>
          <p:cNvPr id="14" name="ColoredBox14"/>
          <p:cNvSpPr>
            <a:spLocks noGrp="1"/>
          </p:cNvSpPr>
          <p:nvPr/>
        </p:nvSpPr>
        <p:spPr>
          <a:xfrm>
            <a:off x="8077200" y="3895200"/>
            <a:ext cx="3657600" cy="2658600"/>
          </a:xfrm>
          <a:prstGeom prst="rect">
            <a:avLst/>
          </a:prstGeom>
          <a:solidFill>
            <a:srgbClr val="2E7D32"/>
          </a:solidFill>
        </p:spPr>
        <p:txBody>
          <a:bodyPr wrap="square" lIns="182880" tIns="91440" rIns="182880" bIns="91440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3200" b="1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es-CO" sz="3200" b="1" dirty="0">
                <a:solidFill>
                  <a:srgbClr val="FFFFFF"/>
                </a:solidFill>
                <a:latin typeface="Calibri"/>
              </a:rPr>
              <a:t>Sede Barranquilla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400" b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lang="es-CO" sz="2000" b="0" dirty="0" err="1">
                <a:solidFill>
                  <a:srgbClr val="FFFFFF"/>
                </a:solidFill>
                <a:latin typeface="Calibri"/>
              </a:rPr>
              <a:t>Router</a:t>
            </a:r>
            <a:r>
              <a:rPr lang="es-CO" sz="2000" b="0" dirty="0">
                <a:solidFill>
                  <a:srgbClr val="FFFFFF"/>
                </a:solidFill>
                <a:latin typeface="Calibri"/>
              </a:rPr>
              <a:t> con VPN IPSec, Switch L2 + AP WiFi</a:t>
            </a:r>
          </a:p>
          <a:p>
            <a:pPr algn="l">
              <a:spcBef>
                <a:spcPts val="200"/>
              </a:spcBef>
            </a:pPr>
            <a:r>
              <a:rPr lang="es-CO" sz="2000" b="0" dirty="0">
                <a:solidFill>
                  <a:srgbClr val="FFFFFF"/>
                </a:solidFill>
                <a:latin typeface="Calibri"/>
              </a:rPr>
              <a:t>VLAN 10 Producción: 14 hosts (maquinaria)</a:t>
            </a:r>
          </a:p>
          <a:p>
            <a:pPr algn="l">
              <a:spcBef>
                <a:spcPts val="200"/>
              </a:spcBef>
            </a:pPr>
            <a:r>
              <a:rPr lang="es-CO" sz="2000" b="0" dirty="0">
                <a:solidFill>
                  <a:srgbClr val="FFFFFF"/>
                </a:solidFill>
                <a:latin typeface="Calibri"/>
              </a:rPr>
              <a:t>VLAN 20 Distribución: 20 hosts (despachos)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1" y="0"/>
            <a:ext cx="12192000" cy="6858000"/>
          </a:xfrm>
          <a:prstGeom prst="rect">
            <a:avLst/>
          </a:prstGeom>
        </p:spPr>
      </p:pic>
      <p:sp>
        <p:nvSpPr>
          <p:cNvPr id="10" name="TitleBar"/>
          <p:cNvSpPr>
            <a:spLocks noGrp="1"/>
          </p:cNvSpPr>
          <p:nvPr/>
        </p:nvSpPr>
        <p:spPr>
          <a:xfrm>
            <a:off x="457200" y="304800"/>
            <a:ext cx="11277600" cy="685800"/>
          </a:xfrm>
          <a:prstGeom prst="rect">
            <a:avLst/>
          </a:prstGeom>
          <a:solidFill>
            <a:srgbClr val="1B3A6B"/>
          </a:solidFill>
        </p:spPr>
        <p:txBody>
          <a:bodyPr wrap="square" lIns="182880" tIns="91440" rIns="182880" bIns="91440"/>
          <a:lstStyle/>
          <a:p>
            <a:pPr algn="l"/>
            <a:r>
              <a:rPr lang="es-CO" sz="2400" b="1" dirty="0">
                <a:solidFill>
                  <a:srgbClr val="FFFFFF"/>
                </a:solidFill>
                <a:latin typeface="Calibri"/>
              </a:rPr>
              <a:t>2. Justificación Técnica</a:t>
            </a:r>
          </a:p>
        </p:txBody>
      </p:sp>
      <p:sp>
        <p:nvSpPr>
          <p:cNvPr id="20" name="ColoredBox20"/>
          <p:cNvSpPr>
            <a:spLocks noGrp="1"/>
          </p:cNvSpPr>
          <p:nvPr/>
        </p:nvSpPr>
        <p:spPr>
          <a:xfrm>
            <a:off x="457200" y="1143000"/>
            <a:ext cx="3600000" cy="2600000"/>
          </a:xfrm>
          <a:prstGeom prst="rect">
            <a:avLst/>
          </a:prstGeom>
          <a:solidFill>
            <a:srgbClr val="C8102E"/>
          </a:solidFill>
        </p:spPr>
        <p:txBody>
          <a:bodyPr wrap="square" lIns="182880" tIns="91440" rIns="182880" bIns="91440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400" b="1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es-CO" sz="2400" b="1" dirty="0">
                <a:solidFill>
                  <a:srgbClr val="FFFFFF"/>
                </a:solidFill>
                <a:latin typeface="Calibri"/>
              </a:rPr>
              <a:t>Segmentación VLAN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000" b="0" dirty="0">
              <a:solidFill>
                <a:srgbClr val="FFFFFF"/>
              </a:solidFill>
              <a:latin typeface="Calibri"/>
            </a:endParaRPr>
          </a:p>
          <a:p>
            <a:pPr algn="just">
              <a:spcBef>
                <a:spcPts val="200"/>
              </a:spcBef>
            </a:pPr>
            <a:r>
              <a:rPr lang="es-CO" sz="2000" b="0" dirty="0">
                <a:solidFill>
                  <a:srgbClr val="FFFFFF"/>
                </a:solidFill>
                <a:latin typeface="Calibri"/>
              </a:rPr>
              <a:t>Aislamiento de tráfico entre áreas (Producción, Admini., Ingeniería, Bodega, DMZ). Reduce dominios de broadcast y mejora seguridad.</a:t>
            </a:r>
          </a:p>
        </p:txBody>
      </p:sp>
      <p:sp>
        <p:nvSpPr>
          <p:cNvPr id="21" name="ColoredBox21"/>
          <p:cNvSpPr>
            <a:spLocks noGrp="1"/>
          </p:cNvSpPr>
          <p:nvPr/>
        </p:nvSpPr>
        <p:spPr>
          <a:xfrm>
            <a:off x="4267200" y="1143000"/>
            <a:ext cx="3600000" cy="2600000"/>
          </a:xfrm>
          <a:prstGeom prst="rect">
            <a:avLst/>
          </a:prstGeom>
          <a:solidFill>
            <a:srgbClr val="1B3A6B"/>
          </a:solidFill>
        </p:spPr>
        <p:txBody>
          <a:bodyPr wrap="square" lIns="182880" tIns="91440" rIns="182880" bIns="91440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400" b="1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es-CO" sz="2400" b="1" dirty="0">
                <a:solidFill>
                  <a:srgbClr val="FFFFFF"/>
                </a:solidFill>
                <a:latin typeface="Calibri"/>
              </a:rPr>
              <a:t>Inter-VLAN L3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000" b="0" dirty="0">
              <a:solidFill>
                <a:srgbClr val="FFFFFF"/>
              </a:solidFill>
              <a:latin typeface="Calibri"/>
            </a:endParaRPr>
          </a:p>
          <a:p>
            <a:pPr algn="just">
              <a:spcBef>
                <a:spcPts val="200"/>
              </a:spcBef>
            </a:pPr>
            <a:r>
              <a:rPr lang="es-CO" sz="2000" b="0" dirty="0">
                <a:solidFill>
                  <a:srgbClr val="FFFFFF"/>
                </a:solidFill>
                <a:latin typeface="Calibri"/>
              </a:rPr>
              <a:t>Switch Core L3 con SVIs permite routing interno a 10 Gbps sin saturar el firewall. Backbone OM3 garantiza baja latencia.</a:t>
            </a:r>
          </a:p>
        </p:txBody>
      </p:sp>
      <p:sp>
        <p:nvSpPr>
          <p:cNvPr id="22" name="ColoredBox22"/>
          <p:cNvSpPr>
            <a:spLocks noGrp="1"/>
          </p:cNvSpPr>
          <p:nvPr/>
        </p:nvSpPr>
        <p:spPr>
          <a:xfrm>
            <a:off x="8077200" y="1143000"/>
            <a:ext cx="3600000" cy="2600000"/>
          </a:xfrm>
          <a:prstGeom prst="rect">
            <a:avLst/>
          </a:prstGeom>
          <a:solidFill>
            <a:srgbClr val="F5A623"/>
          </a:solidFill>
        </p:spPr>
        <p:txBody>
          <a:bodyPr wrap="square" lIns="182880" tIns="91440" rIns="182880" bIns="91440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800" b="1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es-CO" sz="2800" b="1" dirty="0">
                <a:solidFill>
                  <a:srgbClr val="FFFFFF"/>
                </a:solidFill>
                <a:latin typeface="Calibri"/>
              </a:rPr>
              <a:t>Firewall UTM/IPS</a:t>
            </a:r>
          </a:p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400" b="0" dirty="0">
              <a:solidFill>
                <a:srgbClr val="FFFFFF"/>
              </a:solidFill>
              <a:latin typeface="Calibri"/>
            </a:endParaRPr>
          </a:p>
          <a:p>
            <a:pPr algn="just">
              <a:spcBef>
                <a:spcPts val="200"/>
              </a:spcBef>
            </a:pPr>
            <a:r>
              <a:rPr lang="es-CO" sz="2400" b="0" dirty="0">
                <a:solidFill>
                  <a:srgbClr val="FFFFFF"/>
                </a:solidFill>
                <a:latin typeface="Calibri"/>
              </a:rPr>
              <a:t>Inspección de paquetes en capa 7, NAT y bloqueo de intrusiones en el perímetro de Medellín.</a:t>
            </a:r>
          </a:p>
        </p:txBody>
      </p:sp>
      <p:sp>
        <p:nvSpPr>
          <p:cNvPr id="23" name="ColoredBox23"/>
          <p:cNvSpPr>
            <a:spLocks noGrp="1"/>
          </p:cNvSpPr>
          <p:nvPr/>
        </p:nvSpPr>
        <p:spPr>
          <a:xfrm>
            <a:off x="457200" y="3886200"/>
            <a:ext cx="3600000" cy="2600000"/>
          </a:xfrm>
          <a:prstGeom prst="rect">
            <a:avLst/>
          </a:prstGeom>
          <a:solidFill>
            <a:srgbClr val="2E7D32"/>
          </a:solidFill>
        </p:spPr>
        <p:txBody>
          <a:bodyPr wrap="square" lIns="182880" tIns="91440" rIns="182880" bIns="91440"/>
          <a:lstStyle/>
          <a:p>
            <a:pPr algn="l">
              <a:lnSpc>
                <a:spcPts val="1500"/>
              </a:lnSpc>
              <a:spcBef>
                <a:spcPts val="200"/>
              </a:spcBef>
            </a:pPr>
            <a:endParaRPr lang="es-CO" sz="2400" b="1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ts val="1500"/>
              </a:lnSpc>
              <a:spcBef>
                <a:spcPts val="200"/>
              </a:spcBef>
            </a:pPr>
            <a:r>
              <a:rPr lang="es-CO" sz="2400" b="1" dirty="0">
                <a:solidFill>
                  <a:srgbClr val="FFFFFF"/>
                </a:solidFill>
                <a:latin typeface="Calibri"/>
              </a:rPr>
              <a:t>VPN IPSec sedes</a:t>
            </a:r>
          </a:p>
          <a:p>
            <a:pPr algn="l">
              <a:spcBef>
                <a:spcPts val="200"/>
              </a:spcBef>
            </a:pPr>
            <a:endParaRPr lang="es-CO" sz="2000" b="0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lang="es-CO" sz="2000" b="0" dirty="0">
                <a:solidFill>
                  <a:srgbClr val="FFFFFF"/>
                </a:solidFill>
                <a:latin typeface="Calibri"/>
              </a:rPr>
              <a:t>Túneles cifrados sobre MPLS para Bogotá y Barranquilla. Confidencialidad, integridad y autenticación de datos WAN.</a:t>
            </a:r>
          </a:p>
        </p:txBody>
      </p:sp>
      <p:sp>
        <p:nvSpPr>
          <p:cNvPr id="24" name="ColoredBox24"/>
          <p:cNvSpPr>
            <a:spLocks noGrp="1"/>
          </p:cNvSpPr>
          <p:nvPr/>
        </p:nvSpPr>
        <p:spPr>
          <a:xfrm>
            <a:off x="4267200" y="3886200"/>
            <a:ext cx="3600000" cy="2600000"/>
          </a:xfrm>
          <a:prstGeom prst="rect">
            <a:avLst/>
          </a:prstGeom>
          <a:solidFill>
            <a:srgbClr val="5C6BC0"/>
          </a:solidFill>
        </p:spPr>
        <p:txBody>
          <a:bodyPr wrap="square" lIns="182880" tIns="91440" rIns="182880" bIns="91440"/>
          <a:lstStyle/>
          <a:p>
            <a:pPr algn="l">
              <a:spcBef>
                <a:spcPts val="200"/>
              </a:spcBef>
            </a:pPr>
            <a:r>
              <a:rPr lang="es-CO" sz="2400" b="1" dirty="0">
                <a:solidFill>
                  <a:srgbClr val="FFFFFF"/>
                </a:solidFill>
                <a:latin typeface="Calibri"/>
              </a:rPr>
              <a:t>Servicios centralizados</a:t>
            </a:r>
          </a:p>
          <a:p>
            <a:pPr algn="l">
              <a:spcBef>
                <a:spcPts val="200"/>
              </a:spcBef>
            </a:pPr>
            <a:endParaRPr lang="es-CO" sz="2000" b="0" dirty="0">
              <a:solidFill>
                <a:srgbClr val="FFFFFF"/>
              </a:solidFill>
              <a:latin typeface="Calibri"/>
            </a:endParaRPr>
          </a:p>
          <a:p>
            <a:pPr algn="just">
              <a:spcBef>
                <a:spcPts val="200"/>
              </a:spcBef>
            </a:pPr>
            <a:r>
              <a:rPr lang="es-CO" sz="2000" b="0" dirty="0">
                <a:solidFill>
                  <a:srgbClr val="FFFFFF"/>
                </a:solidFill>
                <a:latin typeface="Calibri"/>
              </a:rPr>
              <a:t>DNS/DHCP/AD/NTP centralizados en DMZ (VLAN 99). ERP via HTTPS. FTP interno. Reducción de costos operativos.</a:t>
            </a:r>
          </a:p>
        </p:txBody>
      </p:sp>
      <p:sp>
        <p:nvSpPr>
          <p:cNvPr id="25" name="ColoredBox25"/>
          <p:cNvSpPr>
            <a:spLocks noGrp="1"/>
          </p:cNvSpPr>
          <p:nvPr/>
        </p:nvSpPr>
        <p:spPr>
          <a:xfrm>
            <a:off x="8077200" y="3886200"/>
            <a:ext cx="3600000" cy="2600000"/>
          </a:xfrm>
          <a:prstGeom prst="rect">
            <a:avLst/>
          </a:prstGeom>
          <a:solidFill>
            <a:srgbClr val="00838F"/>
          </a:solidFill>
        </p:spPr>
        <p:txBody>
          <a:bodyPr wrap="square" lIns="182880" tIns="91440" rIns="182880" bIns="91440"/>
          <a:lstStyle/>
          <a:p>
            <a:pPr algn="just">
              <a:spcBef>
                <a:spcPts val="200"/>
              </a:spcBef>
            </a:pPr>
            <a:r>
              <a:rPr lang="es-CO" sz="2400" b="1" dirty="0">
                <a:solidFill>
                  <a:srgbClr val="FFFFFF"/>
                </a:solidFill>
                <a:latin typeface="Calibri"/>
              </a:rPr>
              <a:t>Escalabilidad</a:t>
            </a:r>
          </a:p>
          <a:p>
            <a:pPr algn="just">
              <a:spcBef>
                <a:spcPts val="200"/>
              </a:spcBef>
            </a:pPr>
            <a:endParaRPr lang="es-CO" sz="2000" b="0" dirty="0">
              <a:solidFill>
                <a:srgbClr val="FFFFFF"/>
              </a:solidFill>
              <a:latin typeface="Calibri"/>
            </a:endParaRPr>
          </a:p>
          <a:p>
            <a:pPr algn="just">
              <a:spcBef>
                <a:spcPts val="200"/>
              </a:spcBef>
            </a:pPr>
            <a:r>
              <a:rPr lang="es-CO" sz="2000" b="0" dirty="0">
                <a:solidFill>
                  <a:srgbClr val="FFFFFF"/>
                </a:solidFill>
                <a:latin typeface="Calibri"/>
              </a:rPr>
              <a:t>Diseño modular con switches de acceso L2 independientes. Nuevas VLANs o sedes se integran sin rediseñar el 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1" y="0"/>
            <a:ext cx="12192000" cy="6858000"/>
          </a:xfrm>
          <a:prstGeom prst="rect">
            <a:avLst/>
          </a:prstGeom>
        </p:spPr>
      </p:pic>
      <p:sp>
        <p:nvSpPr>
          <p:cNvPr id="10" name="TitleBar"/>
          <p:cNvSpPr>
            <a:spLocks noGrp="1"/>
          </p:cNvSpPr>
          <p:nvPr/>
        </p:nvSpPr>
        <p:spPr>
          <a:xfrm>
            <a:off x="457200" y="304800"/>
            <a:ext cx="11277600" cy="685800"/>
          </a:xfrm>
          <a:prstGeom prst="rect">
            <a:avLst/>
          </a:prstGeom>
          <a:solidFill>
            <a:srgbClr val="1B3A6B"/>
          </a:solidFill>
        </p:spPr>
        <p:txBody>
          <a:bodyPr wrap="square" lIns="182880" tIns="91440" rIns="182880" bIns="91440"/>
          <a:lstStyle/>
          <a:p>
            <a:pPr algn="l"/>
            <a:r>
              <a:rPr lang="es-CO" sz="2400" b="1" dirty="0">
                <a:solidFill>
                  <a:srgbClr val="FFFFFF"/>
                </a:solidFill>
                <a:latin typeface="Calibri"/>
              </a:rPr>
              <a:t>3. Diagrama Lógico de Red</a:t>
            </a:r>
          </a:p>
        </p:txBody>
      </p:sp>
      <p:pic>
        <p:nvPicPr>
          <p:cNvPr id="11" name="Diagrama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532" y="990600"/>
            <a:ext cx="7600870" cy="5137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1" y="0"/>
            <a:ext cx="12192000" cy="6858000"/>
          </a:xfrm>
          <a:prstGeom prst="rect">
            <a:avLst/>
          </a:prstGeom>
        </p:spPr>
      </p:pic>
      <p:sp>
        <p:nvSpPr>
          <p:cNvPr id="10" name="TitleBar"/>
          <p:cNvSpPr>
            <a:spLocks noGrp="1"/>
          </p:cNvSpPr>
          <p:nvPr/>
        </p:nvSpPr>
        <p:spPr>
          <a:xfrm>
            <a:off x="457200" y="304800"/>
            <a:ext cx="11277600" cy="685800"/>
          </a:xfrm>
          <a:prstGeom prst="rect">
            <a:avLst/>
          </a:prstGeom>
          <a:solidFill>
            <a:srgbClr val="1B3A6B"/>
          </a:solidFill>
        </p:spPr>
        <p:txBody>
          <a:bodyPr wrap="square" lIns="182880" tIns="91440" rIns="182880" bIns="91440"/>
          <a:lstStyle/>
          <a:p>
            <a:pPr algn="l"/>
            <a:r>
              <a:rPr lang="es-CO" sz="2400" b="1" dirty="0">
                <a:solidFill>
                  <a:srgbClr val="FFFFFF"/>
                </a:solidFill>
                <a:latin typeface="Calibri"/>
              </a:rPr>
              <a:t>4. Tabla de Direccionamiento IPv4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FDE9F10-DFE7-7C4C-A9DA-8BC82967A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042830"/>
              </p:ext>
            </p:extLst>
          </p:nvPr>
        </p:nvGraphicFramePr>
        <p:xfrm>
          <a:off x="1518250" y="1197851"/>
          <a:ext cx="8522896" cy="4935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3736">
                  <a:extLst>
                    <a:ext uri="{9D8B030D-6E8A-4147-A177-3AD203B41FA5}">
                      <a16:colId xmlns:a16="http://schemas.microsoft.com/office/drawing/2014/main" val="4089233255"/>
                    </a:ext>
                  </a:extLst>
                </a:gridCol>
                <a:gridCol w="1352840">
                  <a:extLst>
                    <a:ext uri="{9D8B030D-6E8A-4147-A177-3AD203B41FA5}">
                      <a16:colId xmlns:a16="http://schemas.microsoft.com/office/drawing/2014/main" val="768621272"/>
                    </a:ext>
                  </a:extLst>
                </a:gridCol>
                <a:gridCol w="591867">
                  <a:extLst>
                    <a:ext uri="{9D8B030D-6E8A-4147-A177-3AD203B41FA5}">
                      <a16:colId xmlns:a16="http://schemas.microsoft.com/office/drawing/2014/main" val="2368030738"/>
                    </a:ext>
                  </a:extLst>
                </a:gridCol>
                <a:gridCol w="591867">
                  <a:extLst>
                    <a:ext uri="{9D8B030D-6E8A-4147-A177-3AD203B41FA5}">
                      <a16:colId xmlns:a16="http://schemas.microsoft.com/office/drawing/2014/main" val="1017739388"/>
                    </a:ext>
                  </a:extLst>
                </a:gridCol>
                <a:gridCol w="1352840">
                  <a:extLst>
                    <a:ext uri="{9D8B030D-6E8A-4147-A177-3AD203B41FA5}">
                      <a16:colId xmlns:a16="http://schemas.microsoft.com/office/drawing/2014/main" val="3686616820"/>
                    </a:ext>
                  </a:extLst>
                </a:gridCol>
                <a:gridCol w="1420484">
                  <a:extLst>
                    <a:ext uri="{9D8B030D-6E8A-4147-A177-3AD203B41FA5}">
                      <a16:colId xmlns:a16="http://schemas.microsoft.com/office/drawing/2014/main" val="2438514091"/>
                    </a:ext>
                  </a:extLst>
                </a:gridCol>
                <a:gridCol w="1183736">
                  <a:extLst>
                    <a:ext uri="{9D8B030D-6E8A-4147-A177-3AD203B41FA5}">
                      <a16:colId xmlns:a16="http://schemas.microsoft.com/office/drawing/2014/main" val="1269129041"/>
                    </a:ext>
                  </a:extLst>
                </a:gridCol>
                <a:gridCol w="845526">
                  <a:extLst>
                    <a:ext uri="{9D8B030D-6E8A-4147-A177-3AD203B41FA5}">
                      <a16:colId xmlns:a16="http://schemas.microsoft.com/office/drawing/2014/main" val="1268313898"/>
                    </a:ext>
                  </a:extLst>
                </a:gridCol>
              </a:tblGrid>
              <a:tr h="435532">
                <a:tc>
                  <a:txBody>
                    <a:bodyPr/>
                    <a:lstStyle/>
                    <a:p>
                      <a:pPr algn="ctr"/>
                      <a:r>
                        <a:rPr lang="es-MX" sz="1050" dirty="0">
                          <a:effectLst/>
                        </a:rPr>
                        <a:t>Sede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effectLst/>
                        </a:rPr>
                        <a:t>Segmento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effectLst/>
                        </a:rPr>
                        <a:t>Hosts req.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effectLst/>
                        </a:rPr>
                        <a:t>Hosts disp.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effectLst/>
                        </a:rPr>
                        <a:t>Red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effectLst/>
                        </a:rPr>
                        <a:t>Máscara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effectLst/>
                        </a:rPr>
                        <a:t>Gateway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50">
                          <a:effectLst/>
                        </a:rPr>
                        <a:t>Broadcast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14623642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Central MED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VLAN 10 — Producción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60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62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172.16.10.0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/26  255.255.255.192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172.16.10.1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172.16.10.63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047041786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Central MED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VLAN 20 — Admón.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40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62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172.16.20.0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/26  255.255.255.192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172.16.20.1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172.16.20.63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65965064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Central MED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VLAN 30 — Ingeniería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30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30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172.16.30.0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/27  255.255.255.224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172.16.30.1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172.16.30.31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67835619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Central MED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VLAN 99 — DMZ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14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172.16.99.0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/28  255.255.255.240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172.16.99.1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172.16.99.15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969125651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Central MED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VLAN 40 — Bodega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20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30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172.16.40.0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/27  255.255.255.224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172.16.40.1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172.16.40.31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142726086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Sede BOG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VLAN 20 — Ventas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40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62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172.16.50.0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/26  255.255.255.192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172.16.50.1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172.16.50.63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70618495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Sede BOG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VLAN 10 — Produc.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25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30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172.16.51.0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/27  255.255.255.224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172.16.51.1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172.16.51.31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79827136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Sede BAQ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VLAN 20 — Distrib.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20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30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172.16.60.0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/27  255.255.255.224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172.16.60.1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172.16.60.31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11356203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Sede BAQ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VLAN 10 — Produc.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14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14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172.16.61.0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/28  255.255.255.240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172.16.61.1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172.16.61.15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7195700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WAN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Enlace MED–BOG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172.16.200.0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/30  255.255.255.252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172.16.200.1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172.16.200.3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09971183"/>
                  </a:ext>
                </a:extLst>
              </a:tr>
              <a:tr h="409091"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WAN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Enlace MED–BAQ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172.16.201.0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>
                          <a:effectLst/>
                        </a:rPr>
                        <a:t>/30  255.255.255.252</a:t>
                      </a:r>
                      <a:endParaRPr lang="es-CO" sz="11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172.16.201.1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dirty="0">
                          <a:effectLst/>
                        </a:rPr>
                        <a:t>172.16.201.3</a:t>
                      </a:r>
                      <a:endParaRPr lang="es-CO" sz="11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0895925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1" y="0"/>
            <a:ext cx="12192000" cy="6858000"/>
          </a:xfrm>
          <a:prstGeom prst="rect">
            <a:avLst/>
          </a:prstGeom>
        </p:spPr>
      </p:pic>
      <p:sp>
        <p:nvSpPr>
          <p:cNvPr id="10" name="TitleBar"/>
          <p:cNvSpPr>
            <a:spLocks noGrp="1"/>
          </p:cNvSpPr>
          <p:nvPr/>
        </p:nvSpPr>
        <p:spPr>
          <a:xfrm>
            <a:off x="457200" y="304800"/>
            <a:ext cx="11277600" cy="685800"/>
          </a:xfrm>
          <a:prstGeom prst="rect">
            <a:avLst/>
          </a:prstGeom>
          <a:solidFill>
            <a:srgbClr val="1B3A6B"/>
          </a:solidFill>
        </p:spPr>
        <p:txBody>
          <a:bodyPr wrap="square" lIns="182880" tIns="91440" rIns="182880" bIns="91440"/>
          <a:lstStyle/>
          <a:p>
            <a:pPr algn="l"/>
            <a:r>
              <a:rPr lang="es-CO" sz="2400" b="1" dirty="0">
                <a:solidFill>
                  <a:srgbClr val="FFFFFF"/>
                </a:solidFill>
                <a:latin typeface="Calibri"/>
              </a:rPr>
              <a:t>5. Mapeo de Protocolos al Modelo OSI / TCP-IP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7378E02-C177-84C1-B264-3A155F495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522632"/>
              </p:ext>
            </p:extLst>
          </p:nvPr>
        </p:nvGraphicFramePr>
        <p:xfrm>
          <a:off x="1406105" y="1295400"/>
          <a:ext cx="8885207" cy="46482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3622">
                  <a:extLst>
                    <a:ext uri="{9D8B030D-6E8A-4147-A177-3AD203B41FA5}">
                      <a16:colId xmlns:a16="http://schemas.microsoft.com/office/drawing/2014/main" val="3220377632"/>
                    </a:ext>
                  </a:extLst>
                </a:gridCol>
                <a:gridCol w="1480867">
                  <a:extLst>
                    <a:ext uri="{9D8B030D-6E8A-4147-A177-3AD203B41FA5}">
                      <a16:colId xmlns:a16="http://schemas.microsoft.com/office/drawing/2014/main" val="2726513797"/>
                    </a:ext>
                  </a:extLst>
                </a:gridCol>
                <a:gridCol w="987245">
                  <a:extLst>
                    <a:ext uri="{9D8B030D-6E8A-4147-A177-3AD203B41FA5}">
                      <a16:colId xmlns:a16="http://schemas.microsoft.com/office/drawing/2014/main" val="2043806176"/>
                    </a:ext>
                  </a:extLst>
                </a:gridCol>
                <a:gridCol w="1269316">
                  <a:extLst>
                    <a:ext uri="{9D8B030D-6E8A-4147-A177-3AD203B41FA5}">
                      <a16:colId xmlns:a16="http://schemas.microsoft.com/office/drawing/2014/main" val="2339841278"/>
                    </a:ext>
                  </a:extLst>
                </a:gridCol>
                <a:gridCol w="1269316">
                  <a:extLst>
                    <a:ext uri="{9D8B030D-6E8A-4147-A177-3AD203B41FA5}">
                      <a16:colId xmlns:a16="http://schemas.microsoft.com/office/drawing/2014/main" val="2385218301"/>
                    </a:ext>
                  </a:extLst>
                </a:gridCol>
                <a:gridCol w="1269316">
                  <a:extLst>
                    <a:ext uri="{9D8B030D-6E8A-4147-A177-3AD203B41FA5}">
                      <a16:colId xmlns:a16="http://schemas.microsoft.com/office/drawing/2014/main" val="4022618464"/>
                    </a:ext>
                  </a:extLst>
                </a:gridCol>
                <a:gridCol w="987245">
                  <a:extLst>
                    <a:ext uri="{9D8B030D-6E8A-4147-A177-3AD203B41FA5}">
                      <a16:colId xmlns:a16="http://schemas.microsoft.com/office/drawing/2014/main" val="836444568"/>
                    </a:ext>
                  </a:extLst>
                </a:gridCol>
                <a:gridCol w="1128280">
                  <a:extLst>
                    <a:ext uri="{9D8B030D-6E8A-4147-A177-3AD203B41FA5}">
                      <a16:colId xmlns:a16="http://schemas.microsoft.com/office/drawing/2014/main" val="2942066433"/>
                    </a:ext>
                  </a:extLst>
                </a:gridCol>
              </a:tblGrid>
              <a:tr h="542097"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effectLst/>
                        </a:rPr>
                        <a:t>#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effectLst/>
                        </a:rPr>
                        <a:t>Capa OSI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effectLst/>
                        </a:rPr>
                        <a:t>TCP/IP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effectLst/>
                        </a:rPr>
                        <a:t>DNS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effectLst/>
                        </a:rPr>
                        <a:t>DHCP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effectLst/>
                        </a:rPr>
                        <a:t>HTTP/S (ERP)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effectLst/>
                        </a:rPr>
                        <a:t>FTP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>
                          <a:effectLst/>
                        </a:rPr>
                        <a:t>SMTP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627205099"/>
                  </a:ext>
                </a:extLst>
              </a:tr>
              <a:tr h="507496"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7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Aplicación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Aplicación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DNS RFC 1034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DHCP RFC 2131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HTTP/1.1 · HTTP/2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FTP RFC 959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SMTP RFC 5321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83021476"/>
                  </a:ext>
                </a:extLst>
              </a:tr>
              <a:tr h="507496"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6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Presentación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Aplicación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—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—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TLS 1.3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TLS / ASCII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MIME / TLS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000418018"/>
                  </a:ext>
                </a:extLst>
              </a:tr>
              <a:tr h="784312"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5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Sesión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Aplicación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—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—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Sesiones HTTP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Control / datos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Sesión SMTP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680269728"/>
                  </a:ext>
                </a:extLst>
              </a:tr>
              <a:tr h="507496"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4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Transporte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Transporte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UDP 53 / TCP 53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UDP 67/68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TCP 80 / 443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TCP 20/21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TCP 25 / 587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192889999"/>
                  </a:ext>
                </a:extLst>
              </a:tr>
              <a:tr h="507496"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3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Red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Internet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IPv4 · OSPF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IPv4 broadcast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IPv4 · OSPF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IPv4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IPv4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489875540"/>
                  </a:ext>
                </a:extLst>
              </a:tr>
              <a:tr h="784312"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2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Enlace de datos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Acceso a red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Ethernet · 802.1Q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Ethernet · 802.1Q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Ethernet · 802.1Q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Ethernet · 802.1Q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Ethernet · 802.1Q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767518196"/>
                  </a:ext>
                </a:extLst>
              </a:tr>
              <a:tr h="507496"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1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Física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Acceso a red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UTP Cat6 · OM3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UTP Cat6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UTP Cat6 · OM3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>
                          <a:effectLst/>
                        </a:rPr>
                        <a:t>UTP Cat6</a:t>
                      </a:r>
                      <a:endParaRPr lang="es-CO" sz="140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effectLst/>
                        </a:rPr>
                        <a:t>UTP Cat6</a:t>
                      </a:r>
                      <a:endParaRPr lang="es-CO" sz="1400" dirty="0">
                        <a:solidFill>
                          <a:srgbClr val="1A1A1A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32312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A2FF9BC-3C25-4BE9-B789-447C72564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" y="0"/>
            <a:ext cx="12180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747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697</Words>
  <Application>Microsoft Office PowerPoint</Application>
  <PresentationFormat>Panorámica</PresentationFormat>
  <Paragraphs>232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Grafico</dc:creator>
  <cp:lastModifiedBy>Intel Core</cp:lastModifiedBy>
  <cp:revision>7</cp:revision>
  <dcterms:created xsi:type="dcterms:W3CDTF">2024-01-23T19:47:39Z</dcterms:created>
  <dcterms:modified xsi:type="dcterms:W3CDTF">2026-04-12T19:23:12Z</dcterms:modified>
</cp:coreProperties>
</file>